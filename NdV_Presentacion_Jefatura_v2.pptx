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docProps/app.xml" Id="rId3" /><Relationship Type="http://schemas.openxmlformats.org/package/2006/relationships/metadata/core-properties" Target="docProps/core.xml" Id="rId2" /><Relationship Type="http://schemas.openxmlformats.org/officeDocument/2006/relationships/officeDocument" Target="ppt/presentation.xml" Id="rId1" /><Relationship Type="http://schemas.openxmlformats.org/officeDocument/2006/relationships/custom-properties" Target="/docProps/custom.xml" Id="Rdeaa53a19b1148eb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14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3790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51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2011680"/>
            <a:ext cx="6858000" cy="6858000"/>
          </a:xfrm>
          <a:prstGeom prst="ellipse">
            <a:avLst/>
          </a:prstGeom>
          <a:solidFill>
            <a:srgbClr val="D94400">
              <a:alpha val="45000"/>
            </a:srgbClr>
          </a:solidFill>
          <a:ln w="12700">
            <a:solidFill>
              <a:srgbClr val="D9440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01489"/>
          </a:solidFill>
          <a:ln w="12700">
            <a:solidFill>
              <a:srgbClr val="00148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14300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de Venta Digital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502920" y="21945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Instalaciones de Gas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02920" y="3090672"/>
            <a:ext cx="3200400" cy="0"/>
          </a:xfrm>
          <a:prstGeom prst="line">
            <a:avLst/>
          </a:prstGeom>
          <a:noFill/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32186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de Proyectos · Instalaciones de Gas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40416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Corporativo de Cotización · Versión 2.0 · 2025</a:t>
            </a:r>
            <a:endParaRPr lang="en-US" sz="14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A9E6FDC-D346-6326-1D63-B8B660251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8" y="60239"/>
            <a:ext cx="1946692" cy="6517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E5100"/>
          </a:solidFill>
          <a:ln w="12700">
            <a:solidFill>
              <a:srgbClr val="FE5100"/>
            </a:solidFill>
            <a:prstDash val="solid"/>
          </a:ln>
        </p:spPr>
      </p:sp>
      <p:pic>
        <p:nvPicPr>
          <p:cNvPr id="3" name="Image 0" descr="/home/claude/logo_abastib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4592"/>
            <a:ext cx="164592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Desafío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mejoramos la cotización a contratistas?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20040" y="164592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8F8F8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69164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001489"/>
          </a:solidFill>
          <a:ln w="12700">
            <a:solidFill>
              <a:srgbClr val="00148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9768" y="17190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 Proceso lento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468880"/>
            <a:ext cx="2423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cotización requería construir la tabla manualmente en Excel, ítem por ítem, copiando del DC.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00400" y="164592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8F8F8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69164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001489"/>
          </a:solidFill>
          <a:ln w="12700">
            <a:solidFill>
              <a:srgbClr val="00148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10128" y="17190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Errores frecuentes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337560" y="2468880"/>
            <a:ext cx="2423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Precios desactualizados, cálculos manuales incorrectos y falta de trazabilidad entre versiones.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080760" y="164592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8F8F8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26480" y="169164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001489"/>
          </a:solidFill>
          <a:ln w="12700">
            <a:solidFill>
              <a:srgbClr val="00148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90488" y="17190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Sin estándar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217920" y="2468880"/>
            <a:ext cx="2423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colega tenía su propio formato, dificultando la revisión, comparación y auditoría.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4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00D5A">
              <a:alpha val="50000"/>
            </a:srgbClr>
          </a:solidFill>
          <a:ln w="12700">
            <a:solidFill>
              <a:srgbClr val="000D5A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pic>
        <p:nvPicPr>
          <p:cNvPr id="4" name="Image 0" descr="/home/claude/logo_abastib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4592"/>
            <a:ext cx="164592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8686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E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de Venta Digital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237744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app web que automatiza la cotización,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estandariza el formato y elimina los errores.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57200" y="338328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0A2070"/>
          </a:solidFill>
          <a:ln w="12700">
            <a:solidFill>
              <a:srgbClr val="3D5B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474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E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48640" y="413308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· Sin instalar nada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606040" y="338328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0A2070"/>
          </a:solidFill>
          <a:ln w="12700">
            <a:solidFill>
              <a:srgbClr val="3D5B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06040" y="3474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E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 min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697480" y="413308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cotización completa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338328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0A2070"/>
          </a:solidFill>
          <a:ln w="12700">
            <a:solidFill>
              <a:srgbClr val="3D5B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3474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E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×0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846320" y="413308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de cálculo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03720" y="338328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0A2070"/>
          </a:solidFill>
          <a:ln w="12700">
            <a:solidFill>
              <a:srgbClr val="3D5B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03720" y="3474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E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link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6995160" y="413308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todos los equipos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89"/>
          </a:solidFill>
          <a:ln w="12700">
            <a:solidFill>
              <a:srgbClr val="001489"/>
            </a:solidFill>
            <a:prstDash val="solid"/>
          </a:ln>
        </p:spPr>
      </p:sp>
      <p:pic>
        <p:nvPicPr>
          <p:cNvPr id="3" name="Image 0" descr="/home/claude/logo_abastib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4592"/>
            <a:ext cx="164592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Formas de Crear una Nota de Venta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1097280"/>
            <a:ext cx="4069080" cy="3794760"/>
          </a:xfrm>
          <a:prstGeom prst="roundRect">
            <a:avLst>
              <a:gd name="adj" fmla="val 2892"/>
            </a:avLst>
          </a:prstGeom>
          <a:solidFill>
            <a:srgbClr val="F3F0FF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14300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170432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OPCIÓN A — Cargar desde DC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proyectos adjudicados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233172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 en "Cargar DC" (botón morado)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Subir el PDF del Detalle Comercial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 extrae todos los ítems (~20s)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resumen y confirmar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Nota lista en el Paso 3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4480560"/>
            <a:ext cx="3840480" cy="320040"/>
          </a:xfrm>
          <a:prstGeom prst="roundRect">
            <a:avLst>
              <a:gd name="adj" fmla="val 171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4480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Menos de 2 minutos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00600" y="1097280"/>
            <a:ext cx="4069080" cy="3794760"/>
          </a:xfrm>
          <a:prstGeom prst="roundRect">
            <a:avLst>
              <a:gd name="adj" fmla="val 2892"/>
            </a:avLst>
          </a:prstGeom>
          <a:solidFill>
            <a:srgbClr val="FFF3EE"/>
          </a:solidFill>
          <a:ln w="12700">
            <a:solidFill>
              <a:srgbClr val="FE510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114300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FE5100"/>
          </a:solidFill>
          <a:ln w="12700">
            <a:solidFill>
              <a:srgbClr val="FE51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37760" y="1170432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 OPCIÓN B — Crear desde Cero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93776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E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cotizaciones propias o levantamientos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37760" y="233172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 en "+ Nueva Nota"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1: ingresar datos del proyecto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2: seleccionar ítems de la base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Agregar ítems extras si es necesario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Ingresar precios en el Paso 3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937760" y="4480560"/>
            <a:ext cx="3840480" cy="320040"/>
          </a:xfrm>
          <a:prstGeom prst="roundRect">
            <a:avLst>
              <a:gd name="adj" fmla="val 17143"/>
            </a:avLst>
          </a:prstGeom>
          <a:solidFill>
            <a:srgbClr val="FE5100"/>
          </a:solidFill>
          <a:ln w="12700">
            <a:solidFill>
              <a:srgbClr val="FE51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37760" y="4480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Abastible y Contratistas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E5100"/>
          </a:solidFill>
          <a:ln w="12700">
            <a:solidFill>
              <a:srgbClr val="FE5100"/>
            </a:solidFill>
            <a:prstDash val="solid"/>
          </a:ln>
        </p:spPr>
      </p:sp>
      <p:pic>
        <p:nvPicPr>
          <p:cNvPr id="3" name="Image 0" descr="/home/claude/logo_abastib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4592"/>
            <a:ext cx="164592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Completo del Sistema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56032" y="1097280"/>
            <a:ext cx="1609344" cy="3429000"/>
          </a:xfrm>
          <a:prstGeom prst="roundRect">
            <a:avLst>
              <a:gd name="adj" fmla="val 5682"/>
            </a:avLst>
          </a:prstGeom>
          <a:solidFill>
            <a:srgbClr val="F8F8F8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92608" y="1143000"/>
            <a:ext cx="1536192" cy="530352"/>
          </a:xfrm>
          <a:prstGeom prst="roundRect">
            <a:avLst>
              <a:gd name="adj" fmla="val 12069"/>
            </a:avLst>
          </a:prstGeom>
          <a:solidFill>
            <a:srgbClr val="001489"/>
          </a:solidFill>
          <a:ln w="12700">
            <a:solidFill>
              <a:srgbClr val="00148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92608" y="1143000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Abastible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Contratista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832104" y="1792224"/>
            <a:ext cx="457200" cy="457200"/>
          </a:xfrm>
          <a:prstGeom prst="ellipse">
            <a:avLst/>
          </a:prstGeom>
          <a:solidFill>
            <a:srgbClr val="001489"/>
          </a:solidFill>
          <a:ln w="12700">
            <a:solidFill>
              <a:srgbClr val="00148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2104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56032" y="233172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29184" y="2926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1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9184" y="34747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Nombre, cliente, centro, fechas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883664" y="2487168"/>
            <a:ext cx="91440" cy="5486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993392" y="1097280"/>
            <a:ext cx="1609344" cy="3429000"/>
          </a:xfrm>
          <a:prstGeom prst="roundRect">
            <a:avLst>
              <a:gd name="adj" fmla="val 5682"/>
            </a:avLst>
          </a:prstGeom>
          <a:solidFill>
            <a:srgbClr val="F8F8F8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029968" y="1143000"/>
            <a:ext cx="1536192" cy="530352"/>
          </a:xfrm>
          <a:prstGeom prst="roundRect">
            <a:avLst>
              <a:gd name="adj" fmla="val 12069"/>
            </a:avLst>
          </a:prstGeom>
          <a:solidFill>
            <a:srgbClr val="001489"/>
          </a:solidFill>
          <a:ln w="12700">
            <a:solidFill>
              <a:srgbClr val="00148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029968" y="1143000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Abastible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Contratista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569464" y="1792224"/>
            <a:ext cx="457200" cy="457200"/>
          </a:xfrm>
          <a:prstGeom prst="ellipse">
            <a:avLst/>
          </a:prstGeom>
          <a:solidFill>
            <a:srgbClr val="001489"/>
          </a:solidFill>
          <a:ln w="12700">
            <a:solidFill>
              <a:srgbClr val="00148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569464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993392" y="233172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🛒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2066544" y="2926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Seleccionar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1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066544" y="34747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base de datos + ítems custom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621024" y="2487168"/>
            <a:ext cx="91440" cy="5486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730752" y="1097280"/>
            <a:ext cx="1609344" cy="3429000"/>
          </a:xfrm>
          <a:prstGeom prst="roundRect">
            <a:avLst>
              <a:gd name="adj" fmla="val 5682"/>
            </a:avLst>
          </a:prstGeom>
          <a:solidFill>
            <a:srgbClr val="F8F8F8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767328" y="1143000"/>
            <a:ext cx="1536192" cy="530352"/>
          </a:xfrm>
          <a:prstGeom prst="roundRect">
            <a:avLst>
              <a:gd name="adj" fmla="val 12069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67328" y="1143000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306824" y="1792224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306824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730752" y="233172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🏭</a:t>
            </a:r>
            <a:endParaRPr lang="en-US" sz="2600" dirty="0"/>
          </a:p>
        </p:txBody>
      </p:sp>
      <p:sp>
        <p:nvSpPr>
          <p:cNvPr id="29" name="Text 26"/>
          <p:cNvSpPr/>
          <p:nvPr/>
        </p:nvSpPr>
        <p:spPr>
          <a:xfrm>
            <a:off x="3803904" y="2926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1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Impovar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803904" y="34747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agrega automáticamente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358384" y="2487168"/>
            <a:ext cx="91440" cy="5486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468112" y="1097280"/>
            <a:ext cx="1609344" cy="3429000"/>
          </a:xfrm>
          <a:prstGeom prst="roundRect">
            <a:avLst>
              <a:gd name="adj" fmla="val 5682"/>
            </a:avLst>
          </a:prstGeom>
          <a:solidFill>
            <a:srgbClr val="F8F8F8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504688" y="1143000"/>
            <a:ext cx="1536192" cy="530352"/>
          </a:xfrm>
          <a:prstGeom prst="roundRect">
            <a:avLst>
              <a:gd name="adj" fmla="val 12069"/>
            </a:avLst>
          </a:prstGeom>
          <a:solidFill>
            <a:srgbClr val="FE5100"/>
          </a:solidFill>
          <a:ln w="12700">
            <a:solidFill>
              <a:srgbClr val="FE51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504688" y="1143000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Abastible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Contratista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6044184" y="1792224"/>
            <a:ext cx="457200" cy="457200"/>
          </a:xfrm>
          <a:prstGeom prst="ellipse">
            <a:avLst/>
          </a:prstGeom>
          <a:solidFill>
            <a:srgbClr val="FE5100"/>
          </a:solidFill>
          <a:ln w="12700">
            <a:solidFill>
              <a:srgbClr val="FE510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044184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468112" y="233172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38" name="Text 35"/>
          <p:cNvSpPr/>
          <p:nvPr/>
        </p:nvSpPr>
        <p:spPr>
          <a:xfrm>
            <a:off x="5541264" y="2926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1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Precios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5541264" y="34747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contratista por ítem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095744" y="2487168"/>
            <a:ext cx="91440" cy="5486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205472" y="1097280"/>
            <a:ext cx="1609344" cy="3429000"/>
          </a:xfrm>
          <a:prstGeom prst="roundRect">
            <a:avLst>
              <a:gd name="adj" fmla="val 5682"/>
            </a:avLst>
          </a:prstGeom>
          <a:solidFill>
            <a:srgbClr val="F8F8F8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7242048" y="1143000"/>
            <a:ext cx="1536192" cy="530352"/>
          </a:xfrm>
          <a:prstGeom prst="roundRect">
            <a:avLst>
              <a:gd name="adj" fmla="val 12069"/>
            </a:avLst>
          </a:prstGeom>
          <a:solidFill>
            <a:srgbClr val="54585A"/>
          </a:solidFill>
          <a:ln w="12700">
            <a:solidFill>
              <a:srgbClr val="54585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242048" y="1143000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7781544" y="1792224"/>
            <a:ext cx="457200" cy="457200"/>
          </a:xfrm>
          <a:prstGeom prst="ellipse">
            <a:avLst/>
          </a:prstGeom>
          <a:solidFill>
            <a:srgbClr val="54585A"/>
          </a:solidFill>
          <a:ln w="12700">
            <a:solidFill>
              <a:srgbClr val="54585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781544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7205472" y="233172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47" name="Text 44"/>
          <p:cNvSpPr/>
          <p:nvPr/>
        </p:nvSpPr>
        <p:spPr>
          <a:xfrm>
            <a:off x="7278624" y="2926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1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7278624" y="34747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con cuadre validado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256032" y="4617720"/>
            <a:ext cx="8631936" cy="384048"/>
          </a:xfrm>
          <a:prstGeom prst="roundRect">
            <a:avLst>
              <a:gd name="adj" fmla="val 16667"/>
            </a:avLst>
          </a:prstGeom>
          <a:solidFill>
            <a:srgbClr val="EBEEF9"/>
          </a:solidFill>
          <a:ln w="12700">
            <a:solidFill>
              <a:srgbClr val="001489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84048" y="4636008"/>
            <a:ext cx="8366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La base de datos actúa como catálogo: Abastible y Contratistas seleccionan ítems y agregan solo lo que no está disponible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89"/>
          </a:solidFill>
          <a:ln w="12700">
            <a:solidFill>
              <a:srgbClr val="001489"/>
            </a:solidFill>
            <a:prstDash val="solid"/>
          </a:ln>
        </p:spPr>
      </p:sp>
      <p:pic>
        <p:nvPicPr>
          <p:cNvPr id="3" name="Image 0" descr="/home/claude/logo_abastib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4592"/>
            <a:ext cx="164592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Carga desde DC vs Proceso Manual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1097280"/>
            <a:ext cx="3977640" cy="3749040"/>
          </a:xfrm>
          <a:prstGeom prst="roundRect">
            <a:avLst>
              <a:gd name="adj" fmla="val 2439"/>
            </a:avLst>
          </a:prstGeom>
          <a:solidFill>
            <a:srgbClr val="F8F8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0040" y="1143000"/>
            <a:ext cx="3886200" cy="566928"/>
          </a:xfrm>
          <a:prstGeom prst="roundRect">
            <a:avLst>
              <a:gd name="adj" fmla="val 12903"/>
            </a:avLst>
          </a:prstGeom>
          <a:solidFill>
            <a:srgbClr val="54585A"/>
          </a:solidFill>
          <a:ln w="12700">
            <a:solidFill>
              <a:srgbClr val="54585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17043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ANTES — Proceso Manual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82880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el DC en PDF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 cada ítem manualmente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Transcribir descripción, código, cantidad y precio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Armar tabla en Excel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que no falte ningún ítem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Tiempo: 45 a 90 minutos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92040" y="1097280"/>
            <a:ext cx="3977640" cy="3749040"/>
          </a:xfrm>
          <a:prstGeom prst="roundRect">
            <a:avLst>
              <a:gd name="adj" fmla="val 2439"/>
            </a:avLst>
          </a:prstGeom>
          <a:solidFill>
            <a:srgbClr val="F8F8F8"/>
          </a:solidFill>
          <a:ln w="12700">
            <a:solidFill>
              <a:srgbClr val="FE510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143000"/>
            <a:ext cx="3886200" cy="566928"/>
          </a:xfrm>
          <a:prstGeom prst="roundRect">
            <a:avLst>
              <a:gd name="adj" fmla="val 12903"/>
            </a:avLst>
          </a:prstGeom>
          <a:solidFill>
            <a:srgbClr val="FE5100"/>
          </a:solidFill>
          <a:ln w="12700">
            <a:solidFill>
              <a:srgbClr val="FE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0" y="117043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AHORA — Con Nota de Venta Digital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74920" y="182880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 en "Cargar DC"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Seleccionar el PDF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Esperar ~20 segundos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resumen y confirmar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con TODOS los ítems lista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Tiempo: menos de 2 minutos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251960" y="25603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E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E5100"/>
          </a:solidFill>
          <a:ln w="12700">
            <a:solidFill>
              <a:srgbClr val="FE5100"/>
            </a:solidFill>
            <a:prstDash val="solid"/>
          </a:ln>
        </p:spPr>
      </p:sp>
      <p:pic>
        <p:nvPicPr>
          <p:cNvPr id="3" name="Image 0" descr="/home/claude/logo_abastib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4592"/>
            <a:ext cx="164592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 Automatización: Material Impovar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274320" y="1097280"/>
            <a:ext cx="4114800" cy="3794760"/>
          </a:xfrm>
          <a:prstGeom prst="roundRect">
            <a:avLst>
              <a:gd name="adj" fmla="val 2410"/>
            </a:avLst>
          </a:prstGeom>
          <a:solidFill>
            <a:srgbClr val="EBEEF9"/>
          </a:solidFill>
          <a:ln w="12700">
            <a:solidFill>
              <a:srgbClr val="EBEEF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234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hace automáticamente?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73736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agregar instalación de cañería (AP, MP o BP):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Detecta el diámetro automáticamente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Agrega el material Impovar correspondiente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Calcula metros con 5% de merma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Redondea al múltiplo de 6 superior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fijo, no editable por el contratista.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actualiza en la base de datos cada 3 meses.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4251960" cy="1143000"/>
          </a:xfrm>
          <a:prstGeom prst="roundRect">
            <a:avLst>
              <a:gd name="adj" fmla="val 8000"/>
            </a:avLst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0" y="126187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E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metros × 1,05  →  múltiplo de 6 superior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0" y="2377440"/>
            <a:ext cx="4251960" cy="658368"/>
          </a:xfrm>
          <a:prstGeom prst="roundRect">
            <a:avLst>
              <a:gd name="adj" fmla="val 11111"/>
            </a:avLst>
          </a:prstGeom>
          <a:solidFill>
            <a:srgbClr val="F8F8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404872"/>
            <a:ext cx="4069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61,5 m × 1,05 = 64,6 m  →  66 m (11 tiras)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3154680"/>
          <a:ext cx="4251960" cy="155448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Categoría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51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Material Impovar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51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Diámetros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5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458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CAÑERIAS 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458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 Alta Presión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458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3/8" a 2 1/2"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458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CAÑERIAS MP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458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 Media/Baja Presión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458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3/8" a 4"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458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CAÑERIAS BP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458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 Media/Baja Presión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458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3/8" a 4"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89"/>
          </a:solidFill>
          <a:ln w="12700">
            <a:solidFill>
              <a:srgbClr val="001489"/>
            </a:solidFill>
            <a:prstDash val="solid"/>
          </a:ln>
        </p:spPr>
      </p:sp>
      <p:pic>
        <p:nvPicPr>
          <p:cNvPr id="3" name="Image 0" descr="/home/claude/logo_abastib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4592"/>
            <a:ext cx="164592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para la Organización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56032" y="1097280"/>
            <a:ext cx="2779776" cy="1764792"/>
          </a:xfrm>
          <a:prstGeom prst="roundRect">
            <a:avLst>
              <a:gd name="adj" fmla="val 5181"/>
            </a:avLst>
          </a:prstGeom>
          <a:solidFill>
            <a:srgbClr val="F8F8F8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92608" y="1133856"/>
            <a:ext cx="164592" cy="1691640"/>
          </a:xfrm>
          <a:prstGeom prst="roundRect">
            <a:avLst>
              <a:gd name="adj" fmla="val 27778"/>
            </a:avLst>
          </a:prstGeom>
          <a:solidFill>
            <a:srgbClr val="FE5100"/>
          </a:solidFill>
          <a:ln w="12700">
            <a:solidFill>
              <a:srgbClr val="FE51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25272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⚡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48640" y="17556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E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Eficiencia operacional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16712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90 minutos a menos de 5 minutos por cotización.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63824" y="1097280"/>
            <a:ext cx="2779776" cy="1764792"/>
          </a:xfrm>
          <a:prstGeom prst="roundRect">
            <a:avLst>
              <a:gd name="adj" fmla="val 5181"/>
            </a:avLst>
          </a:prstGeom>
          <a:solidFill>
            <a:srgbClr val="F8F8F8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133856"/>
            <a:ext cx="164592" cy="1691640"/>
          </a:xfrm>
          <a:prstGeom prst="roundRect">
            <a:avLst>
              <a:gd name="adj" fmla="val 27778"/>
            </a:avLst>
          </a:prstGeom>
          <a:solidFill>
            <a:srgbClr val="001489"/>
          </a:solidFill>
          <a:ln w="12700">
            <a:solidFill>
              <a:srgbClr val="00148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56432" y="125272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📐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3456432" y="17556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1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Estandarización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456432" y="216712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único, cuadre automático validado, colores corporativos.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71616" y="1097280"/>
            <a:ext cx="2779776" cy="1764792"/>
          </a:xfrm>
          <a:prstGeom prst="roundRect">
            <a:avLst>
              <a:gd name="adj" fmla="val 5181"/>
            </a:avLst>
          </a:prstGeom>
          <a:solidFill>
            <a:srgbClr val="F8F8F8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08192" y="1133856"/>
            <a:ext cx="164592" cy="1691640"/>
          </a:xfrm>
          <a:prstGeom prst="roundRect">
            <a:avLst>
              <a:gd name="adj" fmla="val 27778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64224" y="125272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🔒</a:t>
            </a:r>
            <a:endParaRPr lang="en-US" sz="2500" dirty="0"/>
          </a:p>
        </p:txBody>
      </p:sp>
      <p:sp>
        <p:nvSpPr>
          <p:cNvPr id="18" name="Text 15"/>
          <p:cNvSpPr/>
          <p:nvPr/>
        </p:nvSpPr>
        <p:spPr>
          <a:xfrm>
            <a:off x="6364224" y="17556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64224" y="216712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proyecto guardado con historial completo. Fácil auditoría.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56032" y="3035808"/>
            <a:ext cx="2779776" cy="1764792"/>
          </a:xfrm>
          <a:prstGeom prst="roundRect">
            <a:avLst>
              <a:gd name="adj" fmla="val 5181"/>
            </a:avLst>
          </a:prstGeom>
          <a:solidFill>
            <a:srgbClr val="F8F8F8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92608" y="3072384"/>
            <a:ext cx="164592" cy="1691640"/>
          </a:xfrm>
          <a:prstGeom prst="roundRect">
            <a:avLst>
              <a:gd name="adj" fmla="val 27778"/>
            </a:avLst>
          </a:prstGeom>
          <a:solidFill>
            <a:srgbClr val="54585A"/>
          </a:solidFill>
          <a:ln w="12700">
            <a:solidFill>
              <a:srgbClr val="5458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319125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🌐</a:t>
            </a:r>
            <a:endParaRPr lang="en-US" sz="2500" dirty="0"/>
          </a:p>
        </p:txBody>
      </p:sp>
      <p:sp>
        <p:nvSpPr>
          <p:cNvPr id="23" name="Text 20"/>
          <p:cNvSpPr/>
          <p:nvPr/>
        </p:nvSpPr>
        <p:spPr>
          <a:xfrm>
            <a:off x="548640" y="369417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infraestructura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48640" y="410565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 web. Sin instalación, sin licencias, sin VPN.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163824" y="3035808"/>
            <a:ext cx="2779776" cy="1764792"/>
          </a:xfrm>
          <a:prstGeom prst="roundRect">
            <a:avLst>
              <a:gd name="adj" fmla="val 5181"/>
            </a:avLst>
          </a:prstGeom>
          <a:solidFill>
            <a:srgbClr val="F8F8F8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200400" y="3072384"/>
            <a:ext cx="164592" cy="1691640"/>
          </a:xfrm>
          <a:prstGeom prst="roundRect">
            <a:avLst>
              <a:gd name="adj" fmla="val 2777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56432" y="319125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📊</a:t>
            </a:r>
            <a:endParaRPr lang="en-US" sz="2500" dirty="0"/>
          </a:p>
        </p:txBody>
      </p:sp>
      <p:sp>
        <p:nvSpPr>
          <p:cNvPr id="28" name="Text 25"/>
          <p:cNvSpPr/>
          <p:nvPr/>
        </p:nvSpPr>
        <p:spPr>
          <a:xfrm>
            <a:off x="3456432" y="369417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correctos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456432" y="410565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Precios Renova e Impovar actualizados en la base central.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071616" y="3035808"/>
            <a:ext cx="2779776" cy="1764792"/>
          </a:xfrm>
          <a:prstGeom prst="roundRect">
            <a:avLst>
              <a:gd name="adj" fmla="val 5181"/>
            </a:avLst>
          </a:prstGeom>
          <a:solidFill>
            <a:srgbClr val="F8F8F8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108192" y="3072384"/>
            <a:ext cx="164592" cy="1691640"/>
          </a:xfrm>
          <a:prstGeom prst="roundRect">
            <a:avLst>
              <a:gd name="adj" fmla="val 27778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64224" y="319125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</a:rPr>
              <a:t>🤝</a:t>
            </a:r>
            <a:endParaRPr lang="en-US" sz="2500" dirty="0"/>
          </a:p>
        </p:txBody>
      </p:sp>
      <p:sp>
        <p:nvSpPr>
          <p:cNvPr id="33" name="Text 30"/>
          <p:cNvSpPr/>
          <p:nvPr/>
        </p:nvSpPr>
        <p:spPr>
          <a:xfrm>
            <a:off x="6364224" y="369417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Colaboración fluida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364224" y="410565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Abastible o Contratista crean la nota. Proceso claro y separado.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E5100"/>
          </a:solidFill>
          <a:ln w="12700">
            <a:solidFill>
              <a:srgbClr val="FE5100"/>
            </a:solidFill>
            <a:prstDash val="solid"/>
          </a:ln>
        </p:spPr>
      </p:sp>
      <p:pic>
        <p:nvPicPr>
          <p:cNvPr id="3" name="Image 0" descr="/home/claude/logo_abastib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4592"/>
            <a:ext cx="164592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la Solución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097280"/>
            <a:ext cx="2651760" cy="3520440"/>
          </a:xfrm>
          <a:prstGeom prst="roundRect">
            <a:avLst>
              <a:gd name="adj" fmla="val 3448"/>
            </a:avLst>
          </a:prstGeom>
          <a:solidFill>
            <a:srgbClr val="F8F8F8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02336" y="1143000"/>
            <a:ext cx="2578608" cy="713232"/>
          </a:xfrm>
          <a:prstGeom prst="roundRect">
            <a:avLst>
              <a:gd name="adj" fmla="val 10256"/>
            </a:avLst>
          </a:prstGeom>
          <a:solidFill>
            <a:srgbClr val="001489"/>
          </a:solidFill>
          <a:ln w="12700">
            <a:solidFill>
              <a:srgbClr val="00148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17043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Frontend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02920" y="1993392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+ JavaScript puro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framework — portable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offline (base local)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1097280"/>
            <a:ext cx="2651760" cy="3520440"/>
          </a:xfrm>
          <a:prstGeom prst="roundRect">
            <a:avLst>
              <a:gd name="adj" fmla="val 3448"/>
            </a:avLst>
          </a:prstGeom>
          <a:solidFill>
            <a:srgbClr val="F8F8F8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36976" y="1143000"/>
            <a:ext cx="2578608" cy="713232"/>
          </a:xfrm>
          <a:prstGeom prst="roundRect">
            <a:avLst>
              <a:gd name="adj" fmla="val 10256"/>
            </a:avLst>
          </a:prstGeom>
          <a:solidFill>
            <a:srgbClr val="FE5100"/>
          </a:solidFill>
          <a:ln w="12700">
            <a:solidFill>
              <a:srgbClr val="FE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91840" y="117043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Base de Datos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337560" y="1993392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 Excel (.xlsx)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categorías · 21 centros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Precios Renova e Impovar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Actualizable sin código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35040" y="1097280"/>
            <a:ext cx="2651760" cy="3520440"/>
          </a:xfrm>
          <a:prstGeom prst="roundRect">
            <a:avLst>
              <a:gd name="adj" fmla="val 3448"/>
            </a:avLst>
          </a:prstGeom>
          <a:solidFill>
            <a:srgbClr val="F8F8F8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071616" y="1143000"/>
            <a:ext cx="2578608" cy="713232"/>
          </a:xfrm>
          <a:prstGeom prst="roundRect">
            <a:avLst>
              <a:gd name="adj" fmla="val 1025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117043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IA — Carga DC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172200" y="1993392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 (Anthropic)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seguro Cloudflare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cifrada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~$0,02 por DC procesado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5760" y="4690872"/>
            <a:ext cx="8412480" cy="347472"/>
          </a:xfrm>
          <a:prstGeom prst="roundRect">
            <a:avLst>
              <a:gd name="adj" fmla="val 18421"/>
            </a:avLst>
          </a:prstGeom>
          <a:solidFill>
            <a:srgbClr val="EBEEF9"/>
          </a:solidFill>
          <a:ln w="12700">
            <a:solidFill>
              <a:srgbClr val="00148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470916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Hosting gratuito GitHub Pages · Actualizaciones instantáneas · Sin servidores propios · Costo IA ~$0,02/DC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89"/>
          </a:solidFill>
          <a:ln w="12700">
            <a:solidFill>
              <a:srgbClr val="001489"/>
            </a:solidFill>
            <a:prstDash val="solid"/>
          </a:ln>
        </p:spPr>
      </p:sp>
      <p:pic>
        <p:nvPicPr>
          <p:cNvPr id="3" name="Image 0" descr="/home/claude/logo_abastib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4592"/>
            <a:ext cx="164592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Actual y Próximos Pasos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1097280"/>
            <a:ext cx="2788920" cy="3794760"/>
          </a:xfrm>
          <a:prstGeom prst="roundRect">
            <a:avLst>
              <a:gd name="adj" fmla="val 3279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0040" y="1143000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1704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Completado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1828800"/>
            <a:ext cx="25146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web funcional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 automática base datos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 desde DC (Claude AI)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Impovar automático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Exportación Excel corporativo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de usuario HTML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1097280"/>
            <a:ext cx="2788920" cy="3794760"/>
          </a:xfrm>
          <a:prstGeom prst="roundRect">
            <a:avLst>
              <a:gd name="adj" fmla="val 3279"/>
            </a:avLst>
          </a:prstGeom>
          <a:solidFill>
            <a:srgbClr val="FFF3EE"/>
          </a:solidFill>
          <a:ln w="12700">
            <a:solidFill>
              <a:srgbClr val="FFF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46120" y="1143000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FE5100"/>
          </a:solidFill>
          <a:ln w="12700">
            <a:solidFill>
              <a:srgbClr val="FE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91840" y="11704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En desarrollo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337560" y="1828800"/>
            <a:ext cx="25146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Impovar en archivo separado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(actualización trimestral fácil)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piloto con contratistas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 según feedback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26480" y="1097280"/>
            <a:ext cx="2788920" cy="3794760"/>
          </a:xfrm>
          <a:prstGeom prst="roundRect">
            <a:avLst>
              <a:gd name="adj" fmla="val 3279"/>
            </a:avLst>
          </a:prstGeom>
          <a:solidFill>
            <a:srgbClr val="EBEEF9"/>
          </a:solidFill>
          <a:ln w="12700">
            <a:solidFill>
              <a:srgbClr val="EBEEF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72200" y="1143000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001489"/>
          </a:solidFill>
          <a:ln w="12700">
            <a:solidFill>
              <a:srgbClr val="00148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1704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Próximo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63640" y="1828800"/>
            <a:ext cx="25146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Zonificación por área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(Norte / Centro / Sur)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controlado por zona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45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Actualización precios Renova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51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2286000"/>
            <a:ext cx="7315200" cy="7315200"/>
          </a:xfrm>
          <a:prstGeom prst="ellipse">
            <a:avLst/>
          </a:prstGeom>
          <a:solidFill>
            <a:srgbClr val="D94400">
              <a:alpha val="40000"/>
            </a:srgbClr>
          </a:solidFill>
          <a:ln w="12700">
            <a:solidFill>
              <a:srgbClr val="D9440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749040"/>
            <a:ext cx="9144000" cy="1394460"/>
          </a:xfrm>
          <a:prstGeom prst="rect">
            <a:avLst/>
          </a:prstGeom>
          <a:solidFill>
            <a:srgbClr val="001489"/>
          </a:solidFill>
          <a:ln w="12700">
            <a:solidFill>
              <a:srgbClr val="001489"/>
            </a:solidFill>
            <a:prstDash val="solid"/>
          </a:ln>
        </p:spPr>
      </p:sp>
      <p:pic>
        <p:nvPicPr>
          <p:cNvPr id="5" name="Image 0" descr="/home/claude/logo_abastib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4592"/>
            <a:ext cx="164592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868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Pruébalo ahora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1371600"/>
            <a:ext cx="6858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está listo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usarse hoy.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2606040" cy="530352"/>
          </a:xfrm>
          <a:prstGeom prst="roundRect">
            <a:avLst>
              <a:gd name="adj" fmla="val 13793"/>
            </a:avLst>
          </a:prstGeom>
          <a:solidFill>
            <a:srgbClr val="0A2070"/>
          </a:solidFill>
          <a:ln w="12700">
            <a:solidFill>
              <a:srgbClr val="3D5B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09067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10.941 productos en base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83280" y="3063240"/>
            <a:ext cx="2606040" cy="530352"/>
          </a:xfrm>
          <a:prstGeom prst="roundRect">
            <a:avLst>
              <a:gd name="adj" fmla="val 13793"/>
            </a:avLst>
          </a:prstGeom>
          <a:solidFill>
            <a:srgbClr val="0A2070"/>
          </a:solidFill>
          <a:ln w="12700">
            <a:solidFill>
              <a:srgbClr val="3D5B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0" y="309067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21 centros disponibles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3063240"/>
            <a:ext cx="2606040" cy="530352"/>
          </a:xfrm>
          <a:prstGeom prst="roundRect">
            <a:avLst>
              <a:gd name="adj" fmla="val 13793"/>
            </a:avLst>
          </a:prstGeom>
          <a:solidFill>
            <a:srgbClr val="0A2070"/>
          </a:solidFill>
          <a:ln w="12700">
            <a:solidFill>
              <a:srgbClr val="3D5B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0" y="309067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7 categorías de trabajo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38587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devece.github.io/NOTA-DE-VENTA-ABASTIBLE/NOTA_DE_VENTA.html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de Proyectos · Instalaciones de Gas · Abastible S.A.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849</Words>
  <Application>Microsoft Office PowerPoint</Application>
  <PresentationFormat>Presentación en pantalla (16:9)</PresentationFormat>
  <Paragraphs>190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Nota de Venta Digital — Abastible 2025</dc:title>
  <dc:subject>PptxGenJS Presentation</dc:subject>
  <dc:creator>PptxGenJS</dc:creator>
  <cp:lastModifiedBy>Daniel Villalobos Carrizo</cp:lastModifiedBy>
  <cp:revision>2</cp:revision>
  <dcterms:created xsi:type="dcterms:W3CDTF">2026-06-18T07:48:14Z</dcterms:created>
  <dcterms:modified xsi:type="dcterms:W3CDTF">2026-06-18T18:14:37Z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KriptosClassAi">
    <vt:lpwstr xmlns:vt="http://schemas.openxmlformats.org/officeDocument/2006/docPropsVTypes">2-Restringido</vt:lpwstr>
  </op:property>
</op:Properties>
</file>